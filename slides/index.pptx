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opsmx.com/what-is-gitops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opsmx.com/what-is-gitops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pvgenuchten.github.io/training-gitops-sdi/" TargetMode="External" /><Relationship Id="rId3" Type="http://schemas.openxmlformats.org/officeDocument/2006/relationships/hyperlink" Target="https://forms.gle/J59DjGbTBx1s1Tus7" TargetMode="External" /><Relationship Id="rId4" Type="http://schemas.openxmlformats.org/officeDocument/2006/relationships/hyperlink" Target="https://github.com/pvgenuchten/training-gitops-sdi/discussions/5" TargetMode="Externa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jp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eopython.github.io/pygeometa/" TargetMode="External" /><Relationship Id="rId3" Type="http://schemas.openxmlformats.org/officeDocument/2006/relationships/hyperlink" Target="https://github.com/geopython/pygeometa" TargetMode="Externa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pypi.org/project/geodatacrawler" TargetMode="Externa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pycsw.org" TargetMode="External" /><Relationship Id="rId3" Type="http://schemas.openxmlformats.org/officeDocument/2006/relationships/hyperlink" Target="https://geonetwork-opensource.org" TargetMode="External" /><Relationship Id="rId4" Type="http://schemas.openxmlformats.org/officeDocument/2006/relationships/hyperlink" Target="https://ckan.org" TargetMode="External" /><Relationship Id="rId5" Type="http://schemas.openxmlformats.org/officeDocument/2006/relationships/hyperlink" Target="https://dataverse.org" TargetMode="Externa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mapserver.org" TargetMode="External" /><Relationship Id="rId3" Type="http://schemas.openxmlformats.org/officeDocument/2006/relationships/hyperlink" Target="https://geoserver.org" TargetMode="External" /><Relationship Id="rId4" Type="http://schemas.openxmlformats.org/officeDocument/2006/relationships/hyperlink" Target="https://docs.qgis.org/latest/en/docs/server_manual" TargetMode="External" /><Relationship Id="rId5" Type="http://schemas.openxmlformats.org/officeDocument/2006/relationships/hyperlink" Target="https://pygeoapi.io" TargetMode="Externa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terria.io" TargetMode="External" /><Relationship Id="rId3" Type="http://schemas.openxmlformats.org/officeDocument/2006/relationships/hyperlink" Target="https://geonode.org/" TargetMode="External" /><Relationship Id="rId4" Type="http://schemas.openxmlformats.org/officeDocument/2006/relationships/hyperlink" Target="https://geomoose.org/" TargetMode="External" /><Relationship Id="rId5" Type="http://schemas.openxmlformats.org/officeDocument/2006/relationships/hyperlink" Target="https://mapbender.org/" TargetMode="External" /><Relationship Id="rId6" Type="http://schemas.openxmlformats.org/officeDocument/2006/relationships/hyperlink" Target="https://www.oskari.org/" TargetMode="External" /><Relationship Id="rId7" Type="http://schemas.openxmlformats.org/officeDocument/2006/relationships/hyperlink" Target="https://gisquick.org/" TargetMode="Externa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npmjs.com/package/@maps4html/mapml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GitOps SDI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Infrastructure as Code inspired Spatial Data Infrastructures</a:t>
            </a:r>
            <a:br/>
            <a:br/>
            <a:r>
              <a:rPr/>
              <a:t>Paul van Genuchten, Tom Kralidis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2025-06-15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What is GitOps?</a:t>
            </a:r>
          </a:p>
          <a:p>
            <a:pPr lvl="0"/>
            <a:r>
              <a:rPr/>
              <a:t>Why GitOps?</a:t>
            </a:r>
          </a:p>
          <a:p>
            <a:pPr lvl="0"/>
            <a:r>
              <a:rPr/>
              <a:t>Metadata at the source</a:t>
            </a:r>
          </a:p>
          <a:p>
            <a:pPr lvl="0"/>
            <a:r>
              <a:rPr/>
              <a:t>About the workshop</a:t>
            </a:r>
          </a:p>
          <a:p>
            <a:pPr lvl="0"/>
            <a:r>
              <a:rPr/>
              <a:t>Technologies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</a:t>
            </a:r>
            <a:r>
              <a:rPr>
                <a:hlinkClick r:id="rId2"/>
              </a:rPr>
              <a:t>GitOps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“Git” &amp; “Operations” (like DevOps)</a:t>
            </a:r>
          </a:p>
          <a:p>
            <a:pPr lvl="0"/>
            <a:r>
              <a:rPr/>
              <a:t>Git is a source of truth (apps, containers, configuration)</a:t>
            </a:r>
          </a:p>
          <a:p>
            <a:pPr lvl="0"/>
            <a:r>
              <a:rPr/>
              <a:t>A GitOps process automatically delivers changes in an online cluster.</a:t>
            </a:r>
          </a:p>
          <a:p>
            <a:pPr lvl="0"/>
            <a:r>
              <a:rPr/>
              <a:t>A monitoring process detects difference between desired state and the target cluster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5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Express the desired state declaratively</a:t>
            </a:r>
          </a:p>
          <a:p>
            <a:pPr lvl="0"/>
            <a:r>
              <a:rPr/>
              <a:t>Version control the desired state</a:t>
            </a:r>
          </a:p>
          <a:p>
            <a:pPr lvl="0"/>
            <a:r>
              <a:rPr/>
              <a:t>Automatically apply the desired state</a:t>
            </a:r>
          </a:p>
          <a:p>
            <a:pPr lvl="0"/>
            <a:r>
              <a:rPr/>
              <a:t>Reconcile the desired state</a:t>
            </a:r>
          </a:p>
          <a:p>
            <a:pPr lvl="0"/>
            <a:r>
              <a:rPr/>
              <a:t>Visibility and control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GitOps?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ISRIC - World Soil Informtion</a:t>
            </a:r>
          </a:p>
          <a:p>
            <a:pPr lvl="0"/>
            <a:r>
              <a:rPr/>
              <a:t>We run various SDI’s to facilitate projects</a:t>
            </a:r>
          </a:p>
          <a:p>
            <a:pPr lvl="0"/>
            <a:r>
              <a:rPr/>
              <a:t>SDI’s should be robust, requiring little maintenance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Metadata at the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Researchers use many field and earth observation data to predict distribution of Soil properties</a:t>
            </a:r>
          </a:p>
          <a:p>
            <a:pPr lvl="0"/>
            <a:r>
              <a:rPr/>
              <a:t>They use tools like Excel, R and Python, generally not aware of metadata standards</a:t>
            </a:r>
          </a:p>
          <a:p>
            <a:pPr lvl="0"/>
            <a:r>
              <a:rPr/>
              <a:t>Add a </a:t>
            </a:r>
            <a:r>
              <a:rPr>
                <a:latin typeface="Courier"/>
              </a:rPr>
              <a:t>README.txt</a:t>
            </a:r>
            <a:r>
              <a:rPr/>
              <a:t> to describe the resources in a folder</a:t>
            </a:r>
          </a:p>
          <a:p>
            <a:pPr lvl="0"/>
            <a:r>
              <a:rPr/>
              <a:t>Why not structure the content in the README, so also machines can read it?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About the workshop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self guided tutorial at </a:t>
            </a:r>
            <a:r>
              <a:rPr>
                <a:hlinkClick r:id="rId2"/>
              </a:rPr>
              <a:t>https://pvgenuchten.github.io/training-gitops-sdi/</a:t>
            </a:r>
          </a:p>
          <a:p>
            <a:pPr lvl="0"/>
            <a:r>
              <a:rPr/>
              <a:t>Two moments to summarize</a:t>
            </a:r>
          </a:p>
          <a:p>
            <a:pPr lvl="0"/>
            <a:r>
              <a:rPr/>
              <a:t>Welcoming your feedback at </a:t>
            </a:r>
            <a:r>
              <a:rPr>
                <a:hlinkClick r:id="rId3"/>
              </a:rPr>
              <a:t>https://forms.gle/J59DjGbTBx1s1Tus7</a:t>
            </a:r>
          </a:p>
          <a:p>
            <a:pPr lvl="0"/>
            <a:r>
              <a:rPr/>
              <a:t>Ask questions via </a:t>
            </a:r>
            <a:r>
              <a:rPr>
                <a:hlinkClick r:id="rId4"/>
              </a:rPr>
              <a:t>https://github.com/pvgenuchten/training-gitops-sdi/discussions/5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MCF</a:t>
            </a:r>
          </a:p>
          <a:p>
            <a:pPr lvl="0"/>
            <a:r>
              <a:rPr/>
              <a:t>pygeometa</a:t>
            </a:r>
          </a:p>
          <a:p>
            <a:pPr lvl="0"/>
            <a:r>
              <a:rPr/>
              <a:t>pyGeoDataCrawler</a:t>
            </a:r>
          </a:p>
          <a:p>
            <a:pPr lvl="0"/>
            <a:r>
              <a:rPr/>
              <a:t>pycsw</a:t>
            </a:r>
          </a:p>
          <a:p>
            <a:pPr lvl="0"/>
            <a:r>
              <a:rPr/>
              <a:t>mapserver</a:t>
            </a:r>
          </a:p>
          <a:p>
            <a:pPr lvl="0"/>
            <a:r>
              <a:rPr/>
              <a:t>terriajs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Metadata Control File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A convention of the pygeometa community (Meteo Canada)</a:t>
            </a:r>
          </a:p>
          <a:p>
            <a:pPr lvl="0"/>
            <a:r>
              <a:rPr/>
              <a:t>YAML, easy to read by humans and machines</a:t>
            </a:r>
          </a:p>
          <a:p>
            <a:pPr lvl="0"/>
            <a:r>
              <a:rPr/>
              <a:t>A subset of the ISO19115 standard for metadata</a:t>
            </a:r>
          </a:p>
        </p:txBody>
      </p:sp>
      <p:pic>
        <p:nvPicPr>
          <p:cNvPr descr="../img/mcf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27100"/>
            <a:ext cx="5105400" cy="2425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MCF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pygeometa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library to work with MCF</a:t>
            </a:r>
          </a:p>
          <a:p>
            <a:pPr lvl="0"/>
            <a:r>
              <a:rPr/>
              <a:t>exports MCF to various metadata models (iso, dcat, stac)</a:t>
            </a:r>
          </a:p>
          <a:p>
            <a:pPr lvl="0"/>
            <a:r>
              <a:rPr>
                <a:hlinkClick r:id="rId3"/>
              </a:rPr>
              <a:t>https://github.com/geopython/pygeometa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pyGeoDataCrawler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Developed at ISRIC in the last year</a:t>
            </a:r>
          </a:p>
          <a:p>
            <a:pPr lvl="0"/>
            <a:r>
              <a:rPr/>
              <a:t>On the shoulders of giants; GDAL, pygeometa, pandas</a:t>
            </a:r>
          </a:p>
          <a:p>
            <a:pPr lvl="0"/>
            <a:r>
              <a:rPr/>
              <a:t>Generates MCF files for a file repository</a:t>
            </a:r>
          </a:p>
          <a:p>
            <a:pPr lvl="0"/>
            <a:r>
              <a:rPr/>
              <a:t>Imports metadata from external sources</a:t>
            </a:r>
          </a:p>
          <a:p>
            <a:pPr lvl="0"/>
            <a:r>
              <a:rPr/>
              <a:t>Extracts MCF files from a repository to load it into a catalogue</a:t>
            </a:r>
          </a:p>
          <a:p>
            <a:pPr lvl="0"/>
            <a:r>
              <a:rPr/>
              <a:t>Creates map services configuration for files in the repository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pycsw catalogue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catalogue implementation in Python</a:t>
            </a:r>
          </a:p>
          <a:p>
            <a:pPr lvl="0"/>
            <a:r>
              <a:rPr/>
              <a:t>Limited funtionality, easy maintenance</a:t>
            </a:r>
          </a:p>
          <a:p>
            <a:pPr lvl="0"/>
            <a:r>
              <a:rPr/>
              <a:t>Wide range of supported catalogue standards, serves many communities</a:t>
            </a:r>
          </a:p>
          <a:p>
            <a:pPr lvl="0"/>
            <a:r>
              <a:rPr/>
              <a:t>Database backend</a:t>
            </a:r>
          </a:p>
          <a:p>
            <a:pPr lvl="0"/>
            <a:r>
              <a:rPr/>
              <a:t>Skin customisable with Jinja templates</a:t>
            </a:r>
          </a:p>
          <a:p>
            <a:pPr lvl="0" indent="0" marL="0">
              <a:buNone/>
            </a:pPr>
            <a:r>
              <a:rPr/>
              <a:t>Related products; </a:t>
            </a:r>
            <a:r>
              <a:rPr>
                <a:hlinkClick r:id="rId3"/>
              </a:rPr>
              <a:t>GeoNetwork</a:t>
            </a:r>
            <a:r>
              <a:rPr/>
              <a:t>, </a:t>
            </a:r>
            <a:r>
              <a:rPr>
                <a:hlinkClick r:id="rId4"/>
              </a:rPr>
              <a:t>CKAN</a:t>
            </a:r>
            <a:r>
              <a:rPr/>
              <a:t>, </a:t>
            </a:r>
            <a:r>
              <a:rPr>
                <a:hlinkClick r:id="rId5"/>
              </a:rPr>
              <a:t>dataverse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MapServer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Recent versions of MapServer support the old and new standards</a:t>
            </a:r>
          </a:p>
          <a:p>
            <a:pPr lvl="0"/>
            <a:r>
              <a:rPr/>
              <a:t>Features and Maps</a:t>
            </a:r>
          </a:p>
          <a:p>
            <a:pPr lvl="0"/>
            <a:r>
              <a:rPr/>
              <a:t>No tiles (mapproxy), No coverages yet</a:t>
            </a:r>
          </a:p>
          <a:p>
            <a:pPr lvl="0"/>
            <a:r>
              <a:rPr/>
              <a:t>No records/stac, by design</a:t>
            </a:r>
          </a:p>
          <a:p>
            <a:pPr lvl="0" indent="0" marL="0">
              <a:buNone/>
            </a:pPr>
            <a:r>
              <a:rPr/>
              <a:t>Related products; </a:t>
            </a:r>
            <a:r>
              <a:rPr>
                <a:hlinkClick r:id="rId3"/>
              </a:rPr>
              <a:t>GeoServer</a:t>
            </a:r>
            <a:r>
              <a:rPr/>
              <a:t>, </a:t>
            </a:r>
            <a:r>
              <a:rPr>
                <a:hlinkClick r:id="rId4"/>
              </a:rPr>
              <a:t>QGIS server</a:t>
            </a:r>
            <a:r>
              <a:rPr/>
              <a:t>, </a:t>
            </a:r>
            <a:r>
              <a:rPr>
                <a:hlinkClick r:id="rId5"/>
              </a:rPr>
              <a:t>pygeopai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TerriaJS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Open Source javascript WebGIS application</a:t>
            </a:r>
          </a:p>
          <a:p>
            <a:pPr lvl="0" indent="0" marL="0">
              <a:buNone/>
            </a:pPr>
            <a:r>
              <a:rPr/>
              <a:t>Related products; </a:t>
            </a:r>
            <a:r>
              <a:rPr>
                <a:hlinkClick r:id="rId3"/>
              </a:rPr>
              <a:t>GeoNode</a:t>
            </a:r>
            <a:r>
              <a:rPr/>
              <a:t>, </a:t>
            </a:r>
            <a:r>
              <a:rPr>
                <a:hlinkClick r:id="rId4"/>
              </a:rPr>
              <a:t>GeoMoose</a:t>
            </a:r>
            <a:r>
              <a:rPr/>
              <a:t>, </a:t>
            </a:r>
            <a:r>
              <a:rPr>
                <a:hlinkClick r:id="rId5"/>
              </a:rPr>
              <a:t>MapBender</a:t>
            </a:r>
            <a:r>
              <a:rPr/>
              <a:t>, </a:t>
            </a:r>
            <a:r>
              <a:rPr>
                <a:hlinkClick r:id="rId6"/>
              </a:rPr>
              <a:t>Oskari</a:t>
            </a:r>
            <a:r>
              <a:rPr/>
              <a:t>, </a:t>
            </a:r>
            <a:r>
              <a:rPr>
                <a:hlinkClick r:id="rId7"/>
              </a:rPr>
              <a:t>GisQuick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Static site generator from Markdown</a:t>
            </a:r>
          </a:p>
          <a:p>
            <a:pPr lvl="0"/>
            <a:r>
              <a:rPr/>
              <a:t>Add diagrams or maps with Python and R scripting</a:t>
            </a:r>
          </a:p>
          <a:p>
            <a:pPr lvl="0"/>
            <a:r>
              <a:rPr/>
              <a:t>Other interesting option is the </a:t>
            </a:r>
            <a:r>
              <a:rPr>
                <a:hlinkClick r:id="rId2"/>
              </a:rPr>
              <a:t>W3C MapML</a:t>
            </a:r>
          </a:p>
          <a:p>
            <a:pPr lvl="0" indent="0" marL="0">
              <a:buNone/>
            </a:pPr>
            <a:r>
              <a:rPr/>
              <a:t> </a:t>
            </a:r>
            <a:b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GitOps SDI</dc:title>
  <dc:creator>Paul van Genuchten, Tom Kralidis</dc:creator>
  <cp:keywords/>
  <dcterms:created xsi:type="dcterms:W3CDTF">2025-09-08T08:45:34Z</dcterms:created>
  <dcterms:modified xsi:type="dcterms:W3CDTF">2025-09-08T08:45:34Z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ook">
    <vt:lpwstr/>
  </property>
  <property fmtid="{D5CDD505-2E9C-101B-9397-08002B2CF9AE}" pid="5" name="by-author">
    <vt:lpwstr/>
  </property>
  <property fmtid="{D5CDD505-2E9C-101B-9397-08002B2CF9AE}" pid="6" name="date">
    <vt:lpwstr>2025-06-15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Infrastructure as Code inspired Spatial Data Infrastructures</vt:lpwstr>
  </property>
  <property fmtid="{D5CDD505-2E9C-101B-9397-08002B2CF9AE}" pid="12" name="toc-title">
    <vt:lpwstr>Table of contents</vt:lpwstr>
  </property>
</Properties>
</file>